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3204"/>
  </p:normalViewPr>
  <p:slideViewPr>
    <p:cSldViewPr snapToGrid="0">
      <p:cViewPr>
        <p:scale>
          <a:sx n="200" d="100"/>
          <a:sy n="200" d="100"/>
        </p:scale>
        <p:origin x="15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52F16-CFC5-47DF-C1DE-5D2ECFDA2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AE38B0-4B09-5186-2FC4-189A057CAB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4C704-C61D-C81D-4D1E-2A9D22080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69DF-3A85-6244-AE04-D7E77C43E95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9EC85-E4CE-6EEF-CFCB-0563DA9B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4FED7-B82C-553A-0E5A-53BAB5BA1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A648-54D8-7A41-A2B1-C96FE2169E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847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51552-FB73-BE28-316C-B36454C94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3714A-B087-3DB6-8F9C-E045A4A28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93298-66B0-CAB0-F049-2F42D62AF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69DF-3A85-6244-AE04-D7E77C43E95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DCEA1-66B7-50EA-30DE-4521B57B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14CF5-76F1-6103-F1E1-BA9C459C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A648-54D8-7A41-A2B1-C96FE2169E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973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6B39E-6B9F-97A4-68EB-1D595B803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77CCD-C698-751D-CA37-22A95EE87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A2A7F-0DAE-CF65-B389-A7A655B3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69DF-3A85-6244-AE04-D7E77C43E95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63D17-C1DA-1AD2-49A9-687A73C0E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DEC66-C351-1316-884C-FD0B3C14B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A648-54D8-7A41-A2B1-C96FE2169E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85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7D358-0C94-FC20-6E45-32429AD3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4552A-1551-8A5A-88B0-24393C524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0BE96-4A2E-7455-A5A0-C79ED217D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167D6-E1FD-C68E-F569-5D60B8838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69DF-3A85-6244-AE04-D7E77C43E95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05645-CDA7-71A6-B764-3FA8C54D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C036A-D011-1542-8A81-F4A3498CE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A648-54D8-7A41-A2B1-C96FE2169E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8184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6906-782B-08FE-FB9A-17A4D7A53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7A96C-7C8B-0E0E-7E00-EC89A2379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5519B-95B4-BC0D-5BB8-234342682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B72E2-8E32-4A4D-3E97-4AEF9D00E6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FD04D-A3DD-9582-4D40-9797752951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BE8C10-FC41-2531-14B2-2C827792E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69DF-3A85-6244-AE04-D7E77C43E95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049D89-DD82-6CF2-CC74-8877D0B3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FD0FD3-FA2E-5D10-1398-1C6E984E7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A648-54D8-7A41-A2B1-C96FE2169E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006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2F803-59E0-0EE8-7770-3B74F303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E711B7-FFC4-BCC0-D33F-204D82C50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69DF-3A85-6244-AE04-D7E77C43E95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EAF2CA-1146-F709-383F-599D53843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D6CA74-B932-1FF3-8E33-2A71FB90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A648-54D8-7A41-A2B1-C96FE2169E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202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D124A-E077-0E80-EF51-6CDC7271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69DF-3A85-6244-AE04-D7E77C43E95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EAA6C7-6487-3C76-C563-B6CCACE51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5DF84-F207-5AF7-92DB-5607F1CFD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A648-54D8-7A41-A2B1-C96FE2169E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12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06FE-E8D4-E87C-3D64-20500F0DA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2CB86-50A8-4655-8756-BB549CDBD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E66F5-8C32-9878-F119-B5BEE8919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E6610-FE49-6597-7734-92F612CE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69DF-3A85-6244-AE04-D7E77C43E95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F5717-CEA5-82AD-2B9C-59D13FD3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8C785-D6FD-D575-ACCC-20D887247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A648-54D8-7A41-A2B1-C96FE2169E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421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CF06C-BD87-A1A0-4D90-DF47CCFEA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909D37-3111-8D16-F564-A5F4F880D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7FDD75-D33E-C2F8-884C-AC6A4EDE7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7782F-9458-3D1C-0ECD-60A09AB26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69DF-3A85-6244-AE04-D7E77C43E95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7181F-25A9-C402-26DE-6664BE5AB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2DCD6-200B-DBCE-7645-ECB6E71B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A648-54D8-7A41-A2B1-C96FE2169E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09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CBC34-0D71-1525-8EE9-050308BF8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F2F9E-8418-1ACD-AD82-34FD355ED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D6BC4-61CC-2ABA-5E7B-04CEC59CA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69DF-3A85-6244-AE04-D7E77C43E95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2B540-DD9F-A51C-2576-1BA0DC730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F0ED9-F418-C970-2DEB-71D26139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A648-54D8-7A41-A2B1-C96FE2169E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26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9A39E0-D185-1CF3-809E-C3F795B1A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BB102-7EEE-6436-67E9-2B2A195A5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DE4F9-2D0A-CDAA-D05D-45D29AF5C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369DF-3A85-6244-AE04-D7E77C43E95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5D0C1-7704-5233-7F7B-229140FBA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3E2F7-24F5-F881-8A12-EF93DA9B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8A648-54D8-7A41-A2B1-C96FE2169E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2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992EF0-71DE-BE74-17A5-182B5436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1375D-EC5C-474D-6BE8-F02C797E7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29E4C-1B35-FF82-877A-7E96339FBB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369DF-3A85-6244-AE04-D7E77C43E95F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49F3B-3DA8-1A81-EC53-52E4CC7A1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677B9-1624-BBB7-275B-96D98C9A81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78A648-54D8-7A41-A2B1-C96FE2169E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132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2A63E-9EFD-075F-2F18-8BFF46D8B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en-GB" dirty="0"/>
              <a:t>EspY3</a:t>
            </a:r>
          </a:p>
        </p:txBody>
      </p:sp>
    </p:spTree>
    <p:extLst>
      <p:ext uri="{BB962C8B-B14F-4D97-AF65-F5344CB8AC3E}">
        <p14:creationId xmlns:p14="http://schemas.microsoft.com/office/powerpoint/2010/main" val="2665878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03316-C1B1-891D-4815-4A1253D54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307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4800" dirty="0"/>
              <a:t>Making a phylogenetic 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0E44F4-E4A9-F256-FE4F-0E9B976B1359}"/>
              </a:ext>
            </a:extLst>
          </p:cNvPr>
          <p:cNvSpPr txBox="1"/>
          <p:nvPr/>
        </p:nvSpPr>
        <p:spPr>
          <a:xfrm>
            <a:off x="798719" y="1094730"/>
            <a:ext cx="1184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 err="1"/>
              <a:t>BLASTp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C85BAC-F06D-3822-604C-6D8CB47929DB}"/>
              </a:ext>
            </a:extLst>
          </p:cNvPr>
          <p:cNvSpPr txBox="1"/>
          <p:nvPr/>
        </p:nvSpPr>
        <p:spPr>
          <a:xfrm>
            <a:off x="285307" y="1709450"/>
            <a:ext cx="29756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General 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n = 944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Mostly </a:t>
            </a:r>
            <a:r>
              <a:rPr lang="en-GB" sz="1600" i="1" dirty="0"/>
              <a:t>E. coli</a:t>
            </a:r>
            <a:endParaRPr lang="en-GB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i="1" dirty="0"/>
              <a:t>12 Shigella</a:t>
            </a:r>
            <a:r>
              <a:rPr lang="en-GB" sz="1600" dirty="0"/>
              <a:t> (High % identity)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1D914-711C-2AC1-0ED9-456888A7A3DA}"/>
              </a:ext>
            </a:extLst>
          </p:cNvPr>
          <p:cNvSpPr txBox="1"/>
          <p:nvPr/>
        </p:nvSpPr>
        <p:spPr>
          <a:xfrm>
            <a:off x="3476847" y="1708142"/>
            <a:ext cx="35496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Filter: </a:t>
            </a:r>
            <a:r>
              <a:rPr lang="en-GB" sz="2400" i="1" dirty="0"/>
              <a:t>Escherichia </a:t>
            </a:r>
            <a:r>
              <a:rPr lang="en-GB" sz="2400" i="1" dirty="0" err="1"/>
              <a:t>albertii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n = 147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95% query coverage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600" dirty="0"/>
              <a:t>30% identity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A2793E-4D7A-CE52-C93E-4B6C85116123}"/>
              </a:ext>
            </a:extLst>
          </p:cNvPr>
          <p:cNvSpPr txBox="1"/>
          <p:nvPr/>
        </p:nvSpPr>
        <p:spPr>
          <a:xfrm>
            <a:off x="2328530" y="3244334"/>
            <a:ext cx="1615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Merge outputs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DAD84-6254-7757-3556-9D24C877363E}"/>
              </a:ext>
            </a:extLst>
          </p:cNvPr>
          <p:cNvSpPr txBox="1"/>
          <p:nvPr/>
        </p:nvSpPr>
        <p:spPr>
          <a:xfrm>
            <a:off x="2328530" y="4105825"/>
            <a:ext cx="20120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CD-HIT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0.985% identity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80 clusters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F2C8E-4007-B9B3-2ABC-E86CE4FC8EBA}"/>
              </a:ext>
            </a:extLst>
          </p:cNvPr>
          <p:cNvSpPr txBox="1"/>
          <p:nvPr/>
        </p:nvSpPr>
        <p:spPr>
          <a:xfrm>
            <a:off x="4724150" y="3654792"/>
            <a:ext cx="27437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Remove Shigella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Protect from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93BE1D-9FD1-A739-CCA4-AE9239E98406}"/>
              </a:ext>
            </a:extLst>
          </p:cNvPr>
          <p:cNvSpPr txBox="1"/>
          <p:nvPr/>
        </p:nvSpPr>
        <p:spPr>
          <a:xfrm>
            <a:off x="3260930" y="5532437"/>
            <a:ext cx="859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MAFFT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232FC8-2DFA-4B30-5868-481F6DE42DE2}"/>
              </a:ext>
            </a:extLst>
          </p:cNvPr>
          <p:cNvSpPr txBox="1"/>
          <p:nvPr/>
        </p:nvSpPr>
        <p:spPr>
          <a:xfrm>
            <a:off x="5151012" y="5550196"/>
            <a:ext cx="784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trimAl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A62D09-9BD3-C086-0061-2C0709AA2178}"/>
              </a:ext>
            </a:extLst>
          </p:cNvPr>
          <p:cNvSpPr txBox="1"/>
          <p:nvPr/>
        </p:nvSpPr>
        <p:spPr>
          <a:xfrm>
            <a:off x="7467850" y="5550196"/>
            <a:ext cx="1269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RAxML</a:t>
            </a:r>
            <a:r>
              <a:rPr lang="en-GB" dirty="0"/>
              <a:t>-NG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3D19AE5-EC9C-455D-E67A-9AE11D86FD6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391093" y="1556395"/>
            <a:ext cx="0" cy="252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3B83F31-1A90-51F1-0086-1A56BB10BFD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983467" y="1325563"/>
            <a:ext cx="1493380" cy="382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5C7ECB2-77DC-EE13-1BDF-DBAD2E11C3BA}"/>
              </a:ext>
            </a:extLst>
          </p:cNvPr>
          <p:cNvCxnSpPr>
            <a:cxnSpLocks/>
          </p:cNvCxnSpPr>
          <p:nvPr/>
        </p:nvCxnSpPr>
        <p:spPr>
          <a:xfrm>
            <a:off x="1643127" y="2934929"/>
            <a:ext cx="685403" cy="380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DA54A65-9E45-BDF1-B943-E5844FA8E023}"/>
              </a:ext>
            </a:extLst>
          </p:cNvPr>
          <p:cNvCxnSpPr>
            <a:cxnSpLocks/>
          </p:cNvCxnSpPr>
          <p:nvPr/>
        </p:nvCxnSpPr>
        <p:spPr>
          <a:xfrm flipH="1">
            <a:off x="3726206" y="2911524"/>
            <a:ext cx="389177" cy="4043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C1109E9-CDD7-D5D0-7422-C3ADF01498C5}"/>
              </a:ext>
            </a:extLst>
          </p:cNvPr>
          <p:cNvCxnSpPr>
            <a:cxnSpLocks/>
          </p:cNvCxnSpPr>
          <p:nvPr/>
        </p:nvCxnSpPr>
        <p:spPr>
          <a:xfrm>
            <a:off x="3944485" y="3652017"/>
            <a:ext cx="659413" cy="2710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291E60-3797-1F56-70A5-AB6DE8ED0AC2}"/>
              </a:ext>
            </a:extLst>
          </p:cNvPr>
          <p:cNvCxnSpPr>
            <a:cxnSpLocks/>
          </p:cNvCxnSpPr>
          <p:nvPr/>
        </p:nvCxnSpPr>
        <p:spPr>
          <a:xfrm>
            <a:off x="2931223" y="3645221"/>
            <a:ext cx="0" cy="4712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FBF0CDA-B92C-7966-6CD2-345701BF2A2A}"/>
              </a:ext>
            </a:extLst>
          </p:cNvPr>
          <p:cNvCxnSpPr>
            <a:cxnSpLocks/>
          </p:cNvCxnSpPr>
          <p:nvPr/>
        </p:nvCxnSpPr>
        <p:spPr>
          <a:xfrm flipH="1">
            <a:off x="4115383" y="4383675"/>
            <a:ext cx="1035629" cy="1148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79E607F-6237-40D3-A714-FD9825C6C835}"/>
              </a:ext>
            </a:extLst>
          </p:cNvPr>
          <p:cNvCxnSpPr>
            <a:cxnSpLocks/>
          </p:cNvCxnSpPr>
          <p:nvPr/>
        </p:nvCxnSpPr>
        <p:spPr>
          <a:xfrm>
            <a:off x="3136507" y="5029155"/>
            <a:ext cx="340340" cy="492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020F3F9-D3C5-39AD-53A3-DFA9D2961C8C}"/>
              </a:ext>
            </a:extLst>
          </p:cNvPr>
          <p:cNvCxnSpPr>
            <a:cxnSpLocks/>
          </p:cNvCxnSpPr>
          <p:nvPr/>
        </p:nvCxnSpPr>
        <p:spPr>
          <a:xfrm>
            <a:off x="4125098" y="5673448"/>
            <a:ext cx="925367" cy="436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D6708CE-69A2-33BC-368E-FB513E80A4F8}"/>
              </a:ext>
            </a:extLst>
          </p:cNvPr>
          <p:cNvCxnSpPr>
            <a:cxnSpLocks/>
          </p:cNvCxnSpPr>
          <p:nvPr/>
        </p:nvCxnSpPr>
        <p:spPr>
          <a:xfrm>
            <a:off x="5969508" y="5713034"/>
            <a:ext cx="1324427" cy="21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214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769A-5FFB-481D-AECE-1FEA3D1EC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40" y="-81442"/>
            <a:ext cx="10515600" cy="1325563"/>
          </a:xfrm>
        </p:spPr>
        <p:txBody>
          <a:bodyPr/>
          <a:lstStyle/>
          <a:p>
            <a:r>
              <a:rPr lang="en-GB" dirty="0"/>
              <a:t>MSA</a:t>
            </a:r>
          </a:p>
        </p:txBody>
      </p:sp>
      <p:pic>
        <p:nvPicPr>
          <p:cNvPr id="5" name="Content Placeholder 4" descr="A close up of a computer screen&#10;&#10;AI-generated content may be incorrect.">
            <a:extLst>
              <a:ext uri="{FF2B5EF4-FFF2-40B4-BE49-F238E27FC236}">
                <a16:creationId xmlns:a16="http://schemas.microsoft.com/office/drawing/2014/main" id="{70F1166F-5E3E-B6BF-8B35-A95927A94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780" y="1041009"/>
            <a:ext cx="11666280" cy="5514535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24EA2C-F5B1-8FFF-E70D-25A8EC4844C8}"/>
              </a:ext>
            </a:extLst>
          </p:cNvPr>
          <p:cNvSpPr/>
          <p:nvPr/>
        </p:nvSpPr>
        <p:spPr>
          <a:xfrm>
            <a:off x="229780" y="4459458"/>
            <a:ext cx="11666280" cy="6049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F77B21-C2E8-12CA-8E0A-37A5F39C91BB}"/>
              </a:ext>
            </a:extLst>
          </p:cNvPr>
          <p:cNvSpPr/>
          <p:nvPr/>
        </p:nvSpPr>
        <p:spPr>
          <a:xfrm>
            <a:off x="229780" y="4121834"/>
            <a:ext cx="2527488" cy="3376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i="1" dirty="0"/>
              <a:t>E. </a:t>
            </a:r>
            <a:r>
              <a:rPr lang="en-GB" i="1" dirty="0" err="1"/>
              <a:t>Albertii</a:t>
            </a:r>
            <a:r>
              <a:rPr lang="en-GB" i="1" dirty="0"/>
              <a:t> </a:t>
            </a:r>
            <a:r>
              <a:rPr lang="en-GB" dirty="0"/>
              <a:t>sequences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0D9811-5A15-E702-9A2B-7FBD6DA4D0EA}"/>
              </a:ext>
            </a:extLst>
          </p:cNvPr>
          <p:cNvSpPr txBox="1"/>
          <p:nvPr/>
        </p:nvSpPr>
        <p:spPr>
          <a:xfrm>
            <a:off x="5120641" y="4564"/>
            <a:ext cx="2260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Gaps from insertions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AAFF0C-42A6-8551-2CD3-ED3792DB4AA4}"/>
              </a:ext>
            </a:extLst>
          </p:cNvPr>
          <p:cNvCxnSpPr>
            <a:cxnSpLocks/>
          </p:cNvCxnSpPr>
          <p:nvPr/>
        </p:nvCxnSpPr>
        <p:spPr>
          <a:xfrm flipH="1">
            <a:off x="4515729" y="302456"/>
            <a:ext cx="604912" cy="640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0D3569-6F1A-13E4-9C9A-518E3C8E189A}"/>
              </a:ext>
            </a:extLst>
          </p:cNvPr>
          <p:cNvCxnSpPr/>
          <p:nvPr/>
        </p:nvCxnSpPr>
        <p:spPr>
          <a:xfrm>
            <a:off x="7381260" y="373896"/>
            <a:ext cx="623257" cy="568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667520B-0555-3370-C133-73553952D258}"/>
              </a:ext>
            </a:extLst>
          </p:cNvPr>
          <p:cNvSpPr txBox="1"/>
          <p:nvPr/>
        </p:nvSpPr>
        <p:spPr>
          <a:xfrm>
            <a:off x="2985340" y="296204"/>
            <a:ext cx="15888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a few </a:t>
            </a:r>
            <a:r>
              <a:rPr lang="en-GB" i="1" dirty="0"/>
              <a:t>E. coli</a:t>
            </a:r>
          </a:p>
          <a:p>
            <a:r>
              <a:rPr lang="en-GB" dirty="0"/>
              <a:t>homologues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CDBABE-DDA4-02E6-DF5A-16B6386E063B}"/>
              </a:ext>
            </a:extLst>
          </p:cNvPr>
          <p:cNvSpPr txBox="1"/>
          <p:nvPr/>
        </p:nvSpPr>
        <p:spPr>
          <a:xfrm>
            <a:off x="8070677" y="394678"/>
            <a:ext cx="2557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Insertion in all </a:t>
            </a:r>
            <a:r>
              <a:rPr lang="en-GB" i="1" dirty="0"/>
              <a:t>E. </a:t>
            </a:r>
            <a:r>
              <a:rPr lang="en-GB" i="1" dirty="0" err="1"/>
              <a:t>albertii</a:t>
            </a:r>
            <a:endParaRPr lang="en-GB" dirty="0"/>
          </a:p>
          <a:p>
            <a:r>
              <a:rPr lang="en-GB" dirty="0"/>
              <a:t>sequences</a:t>
            </a:r>
          </a:p>
        </p:txBody>
      </p:sp>
    </p:spTree>
    <p:extLst>
      <p:ext uri="{BB962C8B-B14F-4D97-AF65-F5344CB8AC3E}">
        <p14:creationId xmlns:p14="http://schemas.microsoft.com/office/powerpoint/2010/main" val="306424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7F93D-397F-1E89-DB49-D0EA70A14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25718"/>
            <a:ext cx="10515600" cy="1325563"/>
          </a:xfrm>
        </p:spPr>
        <p:txBody>
          <a:bodyPr/>
          <a:lstStyle/>
          <a:p>
            <a:r>
              <a:rPr lang="en-GB" dirty="0" err="1"/>
              <a:t>TrimAl</a:t>
            </a:r>
            <a:endParaRPr lang="en-GB" dirty="0"/>
          </a:p>
        </p:txBody>
      </p:sp>
      <p:pic>
        <p:nvPicPr>
          <p:cNvPr id="5" name="Content Placeholder 4" descr="A close-up of a bar code&#10;&#10;AI-generated content may be incorrect.">
            <a:extLst>
              <a:ext uri="{FF2B5EF4-FFF2-40B4-BE49-F238E27FC236}">
                <a16:creationId xmlns:a16="http://schemas.microsoft.com/office/drawing/2014/main" id="{01390F4B-B74D-9286-B61C-A79F70A40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099845"/>
            <a:ext cx="12160131" cy="5758155"/>
          </a:xfrm>
        </p:spPr>
      </p:pic>
    </p:spTree>
    <p:extLst>
      <p:ext uri="{BB962C8B-B14F-4D97-AF65-F5344CB8AC3E}">
        <p14:creationId xmlns:p14="http://schemas.microsoft.com/office/powerpoint/2010/main" val="3140678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F5BC6-692F-A6B5-3687-53C38AE75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01055" cy="1325563"/>
          </a:xfrm>
        </p:spPr>
        <p:txBody>
          <a:bodyPr/>
          <a:lstStyle/>
          <a:p>
            <a:r>
              <a:rPr lang="en-GB" dirty="0"/>
              <a:t>Maximum-likelihood tree</a:t>
            </a:r>
          </a:p>
        </p:txBody>
      </p:sp>
      <p:pic>
        <p:nvPicPr>
          <p:cNvPr id="5" name="Content Placeholder 4" descr="A long vertical line of text&#10;&#10;AI-generated content may be incorrect.">
            <a:extLst>
              <a:ext uri="{FF2B5EF4-FFF2-40B4-BE49-F238E27FC236}">
                <a16:creationId xmlns:a16="http://schemas.microsoft.com/office/drawing/2014/main" id="{6DD8034F-B968-6EA4-BAFA-39A2688D23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1142" y="0"/>
            <a:ext cx="2976492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2A26DD-3C07-A2AE-C35A-F65EBD3F66FC}"/>
              </a:ext>
            </a:extLst>
          </p:cNvPr>
          <p:cNvSpPr txBox="1"/>
          <p:nvPr/>
        </p:nvSpPr>
        <p:spPr>
          <a:xfrm>
            <a:off x="956441" y="2228193"/>
            <a:ext cx="626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Maybe including </a:t>
            </a:r>
            <a:r>
              <a:rPr lang="en-GB" i="1" dirty="0"/>
              <a:t>E. </a:t>
            </a:r>
            <a:r>
              <a:rPr lang="en-GB" i="1" dirty="0" err="1"/>
              <a:t>albertii</a:t>
            </a:r>
            <a:r>
              <a:rPr lang="en-GB" dirty="0"/>
              <a:t> in the tree was not the best idea</a:t>
            </a:r>
          </a:p>
        </p:txBody>
      </p:sp>
    </p:spTree>
    <p:extLst>
      <p:ext uri="{BB962C8B-B14F-4D97-AF65-F5344CB8AC3E}">
        <p14:creationId xmlns:p14="http://schemas.microsoft.com/office/powerpoint/2010/main" val="2418768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044E0-67E7-F29D-6E4B-7FA16C822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255" y="302063"/>
            <a:ext cx="402809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Scaling factor 50x gives a better view</a:t>
            </a:r>
          </a:p>
        </p:txBody>
      </p:sp>
      <p:pic>
        <p:nvPicPr>
          <p:cNvPr id="5" name="Content Placeholder 4" descr="A diagram of a structure&#10;&#10;AI-generated content may be incorrect.">
            <a:extLst>
              <a:ext uri="{FF2B5EF4-FFF2-40B4-BE49-F238E27FC236}">
                <a16:creationId xmlns:a16="http://schemas.microsoft.com/office/drawing/2014/main" id="{99D251F5-DFCF-1846-E2F7-76F6AA0133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8795" y="154480"/>
            <a:ext cx="5777466" cy="6624692"/>
          </a:xfrm>
        </p:spPr>
      </p:pic>
    </p:spTree>
    <p:extLst>
      <p:ext uri="{BB962C8B-B14F-4D97-AF65-F5344CB8AC3E}">
        <p14:creationId xmlns:p14="http://schemas.microsoft.com/office/powerpoint/2010/main" val="1514921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625C1-431C-77CC-C510-28A72C04E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10" y="0"/>
            <a:ext cx="3134711" cy="1325563"/>
          </a:xfrm>
        </p:spPr>
        <p:txBody>
          <a:bodyPr/>
          <a:lstStyle/>
          <a:p>
            <a:r>
              <a:rPr lang="en-GB" dirty="0"/>
              <a:t>Annotated species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D62F19-EA40-A7D0-34F1-39387E0C6FEE}"/>
              </a:ext>
            </a:extLst>
          </p:cNvPr>
          <p:cNvSpPr txBox="1"/>
          <p:nvPr/>
        </p:nvSpPr>
        <p:spPr>
          <a:xfrm>
            <a:off x="515007" y="2228193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-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79E30C2-CBD6-0638-040C-68798559B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19108F-6E14-9995-8DD9-1E5BEF24D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476" y="-27673"/>
            <a:ext cx="8303172" cy="691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429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3953C-329E-DAE9-2AAE-F43B2DE46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8047"/>
            <a:ext cx="10515600" cy="1325563"/>
          </a:xfrm>
        </p:spPr>
        <p:txBody>
          <a:bodyPr/>
          <a:lstStyle/>
          <a:p>
            <a:r>
              <a:rPr lang="en-GB" dirty="0"/>
              <a:t>Homologue sources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1F9B97C-CE6F-828F-3A2B-06F4DD45A0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614286"/>
              </p:ext>
            </p:extLst>
          </p:nvPr>
        </p:nvGraphicFramePr>
        <p:xfrm>
          <a:off x="9067199" y="84747"/>
          <a:ext cx="2473160" cy="6688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737600" imgH="23634700" progId="Excel.Sheet.12">
                  <p:embed/>
                </p:oleObj>
              </mc:Choice>
              <mc:Fallback>
                <p:oleObj name="Worksheet" r:id="rId2" imgW="8737600" imgH="23634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67199" y="84747"/>
                        <a:ext cx="2473160" cy="6688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pie chart with numbers and a number on it&#10;&#10;AI-generated content may be incorrect.">
            <a:extLst>
              <a:ext uri="{FF2B5EF4-FFF2-40B4-BE49-F238E27FC236}">
                <a16:creationId xmlns:a16="http://schemas.microsoft.com/office/drawing/2014/main" id="{1D1D047B-72B3-D6A1-C336-BA172E1B3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47" y="843600"/>
            <a:ext cx="4609207" cy="3970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A9A1A7E-A1FD-64EB-2CB7-FFB0D262D281}"/>
              </a:ext>
            </a:extLst>
          </p:cNvPr>
          <p:cNvSpPr txBox="1"/>
          <p:nvPr/>
        </p:nvSpPr>
        <p:spPr>
          <a:xfrm>
            <a:off x="830317" y="5360276"/>
            <a:ext cx="42110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Annotate sources on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See if human isolates group together?</a:t>
            </a:r>
          </a:p>
        </p:txBody>
      </p:sp>
    </p:spTree>
    <p:extLst>
      <p:ext uri="{BB962C8B-B14F-4D97-AF65-F5344CB8AC3E}">
        <p14:creationId xmlns:p14="http://schemas.microsoft.com/office/powerpoint/2010/main" val="848953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8CF5-2191-0DCD-FB8A-37EFA4E5B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 and conservation mapping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95C755-529E-C10C-5D77-4A1AA07EF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701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40C0-B29E-54C4-E742-2B3B3DFED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Make a tree of the conserved PipB2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ECB4D-3630-5C3F-EB3C-9FDA33969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5370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127</Words>
  <Application>Microsoft Macintosh PowerPoint</Application>
  <PresentationFormat>Widescreen</PresentationFormat>
  <Paragraphs>39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Microsoft Excel Worksheet</vt:lpstr>
      <vt:lpstr>EspY3</vt:lpstr>
      <vt:lpstr>Making a phylogenetic tree</vt:lpstr>
      <vt:lpstr>MSA</vt:lpstr>
      <vt:lpstr>TrimAl</vt:lpstr>
      <vt:lpstr>Maximum-likelihood tree</vt:lpstr>
      <vt:lpstr>Scaling factor 50x gives a better view</vt:lpstr>
      <vt:lpstr>Annotated species</vt:lpstr>
      <vt:lpstr>Homologue sources</vt:lpstr>
      <vt:lpstr>Structure and conservation mapping</vt:lpstr>
      <vt:lpstr>Make a tree of the conserved PipB2 domain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Lachlan Black (Student)</dc:creator>
  <cp:lastModifiedBy>Lachlan Black (Student)</cp:lastModifiedBy>
  <cp:revision>1</cp:revision>
  <dcterms:created xsi:type="dcterms:W3CDTF">2025-11-15T14:08:22Z</dcterms:created>
  <dcterms:modified xsi:type="dcterms:W3CDTF">2025-11-15T22:29:40Z</dcterms:modified>
</cp:coreProperties>
</file>